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Canva Sans" charset="1" panose="020B0503030501040103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0.jpe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9736" y="2485868"/>
            <a:ext cx="18907471" cy="7969604"/>
          </a:xfrm>
          <a:custGeom>
            <a:avLst/>
            <a:gdLst/>
            <a:ahLst/>
            <a:cxnLst/>
            <a:rect r="r" b="b" t="t" l="l"/>
            <a:pathLst>
              <a:path h="7969604" w="18907471">
                <a:moveTo>
                  <a:pt x="0" y="0"/>
                </a:moveTo>
                <a:lnTo>
                  <a:pt x="18907472" y="0"/>
                </a:lnTo>
                <a:lnTo>
                  <a:pt x="18907472" y="7969604"/>
                </a:lnTo>
                <a:lnTo>
                  <a:pt x="0" y="796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69" r="0" b="-2799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658850" y="4810327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7200900" y="0"/>
                </a:moveTo>
                <a:lnTo>
                  <a:pt x="0" y="0"/>
                </a:lnTo>
                <a:lnTo>
                  <a:pt x="0" y="7200900"/>
                </a:lnTo>
                <a:lnTo>
                  <a:pt x="7200900" y="7200900"/>
                </a:lnTo>
                <a:lnTo>
                  <a:pt x="72009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6741" y="947477"/>
            <a:ext cx="16230600" cy="153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8"/>
              </a:lnSpc>
            </a:pPr>
            <a:r>
              <a:rPr lang="en-US" sz="5718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DIG</a:t>
            </a:r>
            <a:r>
              <a:rPr lang="en-US" b="true" sz="5718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ITIZING HAND-DRAWN LOGIC CIRCUITS USING COMPUTER VISION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-3899881" y="-863712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7200900"/>
                </a:moveTo>
                <a:lnTo>
                  <a:pt x="7200900" y="7200900"/>
                </a:lnTo>
                <a:lnTo>
                  <a:pt x="7200900" y="0"/>
                </a:lnTo>
                <a:lnTo>
                  <a:pt x="0" y="0"/>
                </a:lnTo>
                <a:lnTo>
                  <a:pt x="0" y="72009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73912" y="9762168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0" y="0"/>
                </a:moveTo>
                <a:lnTo>
                  <a:pt x="4381307" y="0"/>
                </a:lnTo>
                <a:lnTo>
                  <a:pt x="4381307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395134" y="-1155711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4381306" y="1752523"/>
                </a:moveTo>
                <a:lnTo>
                  <a:pt x="0" y="1752523"/>
                </a:lnTo>
                <a:lnTo>
                  <a:pt x="0" y="0"/>
                </a:lnTo>
                <a:lnTo>
                  <a:pt x="4381306" y="0"/>
                </a:lnTo>
                <a:lnTo>
                  <a:pt x="4381306" y="175252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6721" y="2639878"/>
            <a:ext cx="73757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65173"/>
                </a:solidFill>
                <a:latin typeface="Canva Sans"/>
                <a:ea typeface="Canva Sans"/>
                <a:cs typeface="Canva Sans"/>
                <a:sym typeface="Canva Sans"/>
              </a:rPr>
              <a:t>Interim</a:t>
            </a:r>
            <a:r>
              <a:rPr lang="en-US" sz="5199">
                <a:solidFill>
                  <a:srgbClr val="065173"/>
                </a:solidFill>
                <a:latin typeface="Canva Sans"/>
                <a:ea typeface="Canva Sans"/>
                <a:cs typeface="Canva Sans"/>
                <a:sym typeface="Canva Sans"/>
              </a:rPr>
              <a:t> Project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6741" y="3709558"/>
            <a:ext cx="51437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Oshadha Naghawatte - S/21/444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8836" y="-1155711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0" y="0"/>
                </a:moveTo>
                <a:lnTo>
                  <a:pt x="4381306" y="0"/>
                </a:lnTo>
                <a:lnTo>
                  <a:pt x="4381306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230200" y="9658350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4381307" y="1752523"/>
                </a:moveTo>
                <a:lnTo>
                  <a:pt x="0" y="1752523"/>
                </a:lnTo>
                <a:lnTo>
                  <a:pt x="0" y="0"/>
                </a:lnTo>
                <a:lnTo>
                  <a:pt x="4381307" y="0"/>
                </a:lnTo>
                <a:lnTo>
                  <a:pt x="4381307" y="17525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10911914" y="-1446546"/>
            <a:ext cx="3296528" cy="6832357"/>
            <a:chOff x="0" y="0"/>
            <a:chExt cx="885221" cy="18347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5220" cy="1834701"/>
            </a:xfrm>
            <a:custGeom>
              <a:avLst/>
              <a:gdLst/>
              <a:ahLst/>
              <a:cxnLst/>
              <a:rect r="r" b="b" t="t" l="l"/>
              <a:pathLst>
                <a:path h="1834701" w="885220">
                  <a:moveTo>
                    <a:pt x="234851" y="0"/>
                  </a:moveTo>
                  <a:lnTo>
                    <a:pt x="650370" y="0"/>
                  </a:lnTo>
                  <a:cubicBezTo>
                    <a:pt x="780074" y="0"/>
                    <a:pt x="885220" y="105146"/>
                    <a:pt x="885220" y="234851"/>
                  </a:cubicBezTo>
                  <a:lnTo>
                    <a:pt x="885220" y="1599850"/>
                  </a:lnTo>
                  <a:cubicBezTo>
                    <a:pt x="885220" y="1729554"/>
                    <a:pt x="780074" y="1834701"/>
                    <a:pt x="650370" y="1834701"/>
                  </a:cubicBezTo>
                  <a:lnTo>
                    <a:pt x="234851" y="1834701"/>
                  </a:lnTo>
                  <a:cubicBezTo>
                    <a:pt x="105146" y="1834701"/>
                    <a:pt x="0" y="1729554"/>
                    <a:pt x="0" y="1599850"/>
                  </a:cubicBezTo>
                  <a:lnTo>
                    <a:pt x="0" y="234851"/>
                  </a:lnTo>
                  <a:cubicBezTo>
                    <a:pt x="0" y="105146"/>
                    <a:pt x="105146" y="0"/>
                    <a:pt x="234851" y="0"/>
                  </a:cubicBezTo>
                  <a:close/>
                </a:path>
              </a:pathLst>
            </a:custGeom>
            <a:blipFill>
              <a:blip r:embed="rId4"/>
              <a:stretch>
                <a:fillRect l="-18900" t="0" r="-18900" b="-18199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256742" y="4416224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11144" y="1028700"/>
            <a:ext cx="1048156" cy="739084"/>
          </a:xfrm>
          <a:custGeom>
            <a:avLst/>
            <a:gdLst/>
            <a:ahLst/>
            <a:cxnLst/>
            <a:rect r="r" b="b" t="t" l="l"/>
            <a:pathLst>
              <a:path h="739084" w="1048156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60000">
            <a:off x="2684929" y="2647490"/>
            <a:ext cx="3268635" cy="5121505"/>
          </a:xfrm>
          <a:custGeom>
            <a:avLst/>
            <a:gdLst/>
            <a:ahLst/>
            <a:cxnLst/>
            <a:rect r="r" b="b" t="t" l="l"/>
            <a:pathLst>
              <a:path h="5121505" w="3268635">
                <a:moveTo>
                  <a:pt x="88428" y="0"/>
                </a:moveTo>
                <a:lnTo>
                  <a:pt x="3268635" y="55511"/>
                </a:lnTo>
                <a:lnTo>
                  <a:pt x="3180208" y="5121505"/>
                </a:lnTo>
                <a:lnTo>
                  <a:pt x="0" y="5065994"/>
                </a:lnTo>
                <a:lnTo>
                  <a:pt x="88428" y="0"/>
                </a:lnTo>
                <a:close/>
              </a:path>
            </a:pathLst>
          </a:custGeom>
          <a:blipFill>
            <a:blip r:embed="rId9"/>
            <a:stretch>
              <a:fillRect l="-62217" t="-20951" r="-13413" b="-2850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73381" y="931656"/>
            <a:ext cx="4187967" cy="72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8"/>
              </a:lnSpc>
            </a:pPr>
            <a:r>
              <a:rPr lang="en-US" sz="4049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THE</a:t>
            </a:r>
            <a:r>
              <a:rPr lang="en-US" b="true" sz="4049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 PROBLEM: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1732" y="1883908"/>
            <a:ext cx="8435165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ranslating inconsistent, hand-drawn logic circuits into functional digital netlists using pure Computer Vision.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33307" y="3950896"/>
            <a:ext cx="9448102" cy="138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7"/>
              </a:lnSpc>
            </a:pPr>
            <a:r>
              <a:rPr lang="en-US" sz="3912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THE</a:t>
            </a:r>
            <a:r>
              <a:rPr lang="en-US" b="true" sz="3912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 CHALLENGE OF HUMAN VARIANCE: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45938" y="5525402"/>
            <a:ext cx="8435165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He</a:t>
            </a:r>
            <a:r>
              <a:rPr lang="en-US" sz="27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avy ink and overlapping traces.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Wobbly lines and imperfect geometry.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49314" y="7595235"/>
            <a:ext cx="4187967" cy="72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8"/>
              </a:lnSpc>
            </a:pPr>
            <a:r>
              <a:rPr lang="en-US" sz="4049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THE DATASET: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83922" y="8447639"/>
            <a:ext cx="13904078" cy="98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9802" indent="-299901" lvl="1">
              <a:lnSpc>
                <a:spcPts val="3889"/>
              </a:lnSpc>
              <a:buFont typeface="Arial"/>
              <a:buChar char="•"/>
            </a:pPr>
            <a:r>
              <a:rPr lang="en-US" sz="27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custom collection of hand-drawn circuits on paper, scaling from simple 2/3-gate topologies to complex structures.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8836" y="-1155711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0" y="0"/>
                </a:moveTo>
                <a:lnTo>
                  <a:pt x="4381306" y="0"/>
                </a:lnTo>
                <a:lnTo>
                  <a:pt x="4381306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70707" y="4591969"/>
            <a:ext cx="1048156" cy="739084"/>
          </a:xfrm>
          <a:custGeom>
            <a:avLst/>
            <a:gdLst/>
            <a:ahLst/>
            <a:cxnLst/>
            <a:rect r="r" b="b" t="t" l="l"/>
            <a:pathLst>
              <a:path h="739084" w="1048156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409239" y="4642687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7200900" y="0"/>
                </a:moveTo>
                <a:lnTo>
                  <a:pt x="0" y="0"/>
                </a:lnTo>
                <a:lnTo>
                  <a:pt x="0" y="7200900"/>
                </a:lnTo>
                <a:lnTo>
                  <a:pt x="7200900" y="7200900"/>
                </a:lnTo>
                <a:lnTo>
                  <a:pt x="72009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1940" y="2160657"/>
            <a:ext cx="2871184" cy="5128056"/>
          </a:xfrm>
          <a:custGeom>
            <a:avLst/>
            <a:gdLst/>
            <a:ahLst/>
            <a:cxnLst/>
            <a:rect r="r" b="b" t="t" l="l"/>
            <a:pathLst>
              <a:path h="5128056" w="2871184">
                <a:moveTo>
                  <a:pt x="0" y="0"/>
                </a:moveTo>
                <a:lnTo>
                  <a:pt x="2871184" y="0"/>
                </a:lnTo>
                <a:lnTo>
                  <a:pt x="2871184" y="5128056"/>
                </a:lnTo>
                <a:lnTo>
                  <a:pt x="0" y="51280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7342" t="-9940" r="-16701" b="-3343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26574" y="2160657"/>
            <a:ext cx="2908098" cy="5218269"/>
          </a:xfrm>
          <a:custGeom>
            <a:avLst/>
            <a:gdLst/>
            <a:ahLst/>
            <a:cxnLst/>
            <a:rect r="r" b="b" t="t" l="l"/>
            <a:pathLst>
              <a:path h="5218269" w="2908098">
                <a:moveTo>
                  <a:pt x="0" y="0"/>
                </a:moveTo>
                <a:lnTo>
                  <a:pt x="2908098" y="0"/>
                </a:lnTo>
                <a:lnTo>
                  <a:pt x="2908098" y="5218269"/>
                </a:lnTo>
                <a:lnTo>
                  <a:pt x="0" y="52182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659" t="-8074" r="-9701" b="-2028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10658" y="2160657"/>
            <a:ext cx="2922231" cy="5409989"/>
          </a:xfrm>
          <a:custGeom>
            <a:avLst/>
            <a:gdLst/>
            <a:ahLst/>
            <a:cxnLst/>
            <a:rect r="r" b="b" t="t" l="l"/>
            <a:pathLst>
              <a:path h="5409989" w="2922231">
                <a:moveTo>
                  <a:pt x="0" y="0"/>
                </a:moveTo>
                <a:lnTo>
                  <a:pt x="2922231" y="0"/>
                </a:lnTo>
                <a:lnTo>
                  <a:pt x="2922231" y="5409988"/>
                </a:lnTo>
                <a:lnTo>
                  <a:pt x="0" y="5409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837" t="0" r="-183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8000">
            <a:off x="13074116" y="2140504"/>
            <a:ext cx="2999795" cy="5450294"/>
          </a:xfrm>
          <a:custGeom>
            <a:avLst/>
            <a:gdLst/>
            <a:ahLst/>
            <a:cxnLst/>
            <a:rect r="r" b="b" t="t" l="l"/>
            <a:pathLst>
              <a:path h="5450294" w="2999795">
                <a:moveTo>
                  <a:pt x="0" y="40833"/>
                </a:moveTo>
                <a:lnTo>
                  <a:pt x="2924260" y="0"/>
                </a:lnTo>
                <a:lnTo>
                  <a:pt x="2999796" y="5409461"/>
                </a:lnTo>
                <a:lnTo>
                  <a:pt x="75536" y="5450294"/>
                </a:lnTo>
                <a:lnTo>
                  <a:pt x="0" y="40833"/>
                </a:lnTo>
                <a:close/>
              </a:path>
            </a:pathLst>
          </a:custGeom>
          <a:blipFill>
            <a:blip r:embed="rId11"/>
            <a:stretch>
              <a:fillRect l="-24804" t="-9083" r="-18619" b="-3179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85850"/>
            <a:ext cx="16019608" cy="74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5274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THE MULT</a:t>
            </a:r>
            <a:r>
              <a:rPr lang="en-US" b="true" sz="5274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I-STAGE IMAGE PROCESSING PIPELINE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6677" y="8812731"/>
            <a:ext cx="4818517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rayscale conversion, Median Blur, Gaussian Adaptive Thresholding.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6677" y="7662112"/>
            <a:ext cx="4429897" cy="107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STEP 1: PREPROCES</a:t>
            </a:r>
            <a:r>
              <a:rPr lang="en-US" b="true" sz="3000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95201" y="7662112"/>
            <a:ext cx="4290104" cy="107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STEP 2: GAP SEAL</a:t>
            </a:r>
            <a:r>
              <a:rPr lang="en-US" b="true" sz="3000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ING &amp; FLOOD FILL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39648" y="8812731"/>
            <a:ext cx="546413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Morphological closing to handle human variance in pen pressure.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76642" y="7648575"/>
            <a:ext cx="3945385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STEP 3: ADVANCED SEGMENTAT</a:t>
            </a:r>
            <a:r>
              <a:rPr lang="en-US" b="true" sz="3000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ION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527634" y="8812731"/>
            <a:ext cx="439587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"Jaws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 Life" Heavy-Duty Morphological Opening (35x35 kernel).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8836" y="-1155711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0" y="0"/>
                </a:moveTo>
                <a:lnTo>
                  <a:pt x="4381306" y="0"/>
                </a:lnTo>
                <a:lnTo>
                  <a:pt x="4381306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230200" y="9658350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4381307" y="1752523"/>
                </a:moveTo>
                <a:lnTo>
                  <a:pt x="0" y="1752523"/>
                </a:lnTo>
                <a:lnTo>
                  <a:pt x="0" y="0"/>
                </a:lnTo>
                <a:lnTo>
                  <a:pt x="4381307" y="0"/>
                </a:lnTo>
                <a:lnTo>
                  <a:pt x="4381307" y="17525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44802" y="7763829"/>
            <a:ext cx="1048156" cy="739084"/>
          </a:xfrm>
          <a:custGeom>
            <a:avLst/>
            <a:gdLst/>
            <a:ahLst/>
            <a:cxnLst/>
            <a:rect r="r" b="b" t="t" l="l"/>
            <a:pathLst>
              <a:path h="739084" w="1048156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426259" y="-1600835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7200900" y="7200900"/>
                </a:moveTo>
                <a:lnTo>
                  <a:pt x="0" y="7200900"/>
                </a:lnTo>
                <a:lnTo>
                  <a:pt x="0" y="0"/>
                </a:lnTo>
                <a:lnTo>
                  <a:pt x="7200900" y="0"/>
                </a:lnTo>
                <a:lnTo>
                  <a:pt x="7200900" y="72009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57217" y="2951796"/>
            <a:ext cx="8054478" cy="4383408"/>
          </a:xfrm>
          <a:custGeom>
            <a:avLst/>
            <a:gdLst/>
            <a:ahLst/>
            <a:cxnLst/>
            <a:rect r="r" b="b" t="t" l="l"/>
            <a:pathLst>
              <a:path h="4383408" w="8054478">
                <a:moveTo>
                  <a:pt x="0" y="0"/>
                </a:moveTo>
                <a:lnTo>
                  <a:pt x="8054478" y="0"/>
                </a:lnTo>
                <a:lnTo>
                  <a:pt x="8054478" y="4383408"/>
                </a:lnTo>
                <a:lnTo>
                  <a:pt x="0" y="43834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722" t="-3196" r="-1753" b="-843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65646"/>
            <a:ext cx="8918814" cy="138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5"/>
              </a:lnSpc>
            </a:pPr>
            <a:r>
              <a:rPr lang="en-US" sz="3867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DETERMINIS</a:t>
            </a:r>
            <a:r>
              <a:rPr lang="en-US" b="true" sz="3867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TIC HEURISTIC CLASSIFICATION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269193"/>
            <a:ext cx="8728517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Ut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ilizing deterministic pure geom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etry rather than probabilistic machine learning models.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475059"/>
            <a:ext cx="8728517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etric 1: Solidity: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(Area / Convex Hull Area). Det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ects the complex "dent" in the back curve of an OR gate versus the solid block of an AND gate.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057006"/>
            <a:ext cx="8728517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etric 2: Extent: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(Area / Bounding Box Area). T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he ultimate "Triangle Trap." A triangle mathematically cannot fill its bounding box, instantly isolating NOT gates regardless of size.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0358" y="7697154"/>
            <a:ext cx="8431337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eneralization Success: 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High robustness against 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human variance in geometry, wobbly lines, and sizing.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63979" y="2827002"/>
            <a:ext cx="10262730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Gate Masking: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Erasing d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etected bounding boxes to isolate the raw, unconnected wire pixels.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558836" y="-1155711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0" y="0"/>
                </a:moveTo>
                <a:lnTo>
                  <a:pt x="4381306" y="0"/>
                </a:lnTo>
                <a:lnTo>
                  <a:pt x="4381306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230200" y="9658350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4381307" y="1752523"/>
                </a:moveTo>
                <a:lnTo>
                  <a:pt x="0" y="1752523"/>
                </a:lnTo>
                <a:lnTo>
                  <a:pt x="0" y="0"/>
                </a:lnTo>
                <a:lnTo>
                  <a:pt x="4381307" y="0"/>
                </a:lnTo>
                <a:lnTo>
                  <a:pt x="4381307" y="17525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7739" y="8888758"/>
            <a:ext cx="1048156" cy="739084"/>
          </a:xfrm>
          <a:custGeom>
            <a:avLst/>
            <a:gdLst/>
            <a:ahLst/>
            <a:cxnLst/>
            <a:rect r="r" b="b" t="t" l="l"/>
            <a:pathLst>
              <a:path h="739084" w="1048156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426259" y="-1600835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7200900" y="7200900"/>
                </a:moveTo>
                <a:lnTo>
                  <a:pt x="0" y="7200900"/>
                </a:lnTo>
                <a:lnTo>
                  <a:pt x="0" y="0"/>
                </a:lnTo>
                <a:lnTo>
                  <a:pt x="7200900" y="0"/>
                </a:lnTo>
                <a:lnTo>
                  <a:pt x="7200900" y="72009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5246370" cy="6410864"/>
            <a:chOff x="0" y="0"/>
            <a:chExt cx="812800" cy="993211"/>
          </a:xfrm>
        </p:grpSpPr>
        <p:sp>
          <p:nvSpPr>
            <p:cNvPr name="Freeform 8" id="8"/>
            <p:cNvSpPr/>
            <p:nvPr/>
          </p:nvSpPr>
          <p:spPr>
            <a:xfrm flipH="false" flipV="false" rot="-6000">
              <a:off x="-807" y="-649"/>
              <a:ext cx="814414" cy="994509"/>
            </a:xfrm>
            <a:custGeom>
              <a:avLst/>
              <a:gdLst/>
              <a:ahLst/>
              <a:cxnLst/>
              <a:rect r="r" b="b" t="t" l="l"/>
              <a:pathLst>
                <a:path h="994509" w="814414">
                  <a:moveTo>
                    <a:pt x="35615" y="0"/>
                  </a:moveTo>
                  <a:lnTo>
                    <a:pt x="780533" y="1300"/>
                  </a:lnTo>
                  <a:cubicBezTo>
                    <a:pt x="799278" y="1333"/>
                    <a:pt x="814447" y="16555"/>
                    <a:pt x="814414" y="35299"/>
                  </a:cubicBezTo>
                  <a:lnTo>
                    <a:pt x="812799" y="960628"/>
                  </a:lnTo>
                  <a:cubicBezTo>
                    <a:pt x="812783" y="969629"/>
                    <a:pt x="809192" y="978256"/>
                    <a:pt x="802816" y="984610"/>
                  </a:cubicBezTo>
                  <a:cubicBezTo>
                    <a:pt x="796440" y="990964"/>
                    <a:pt x="787801" y="994525"/>
                    <a:pt x="778799" y="994509"/>
                  </a:cubicBezTo>
                  <a:lnTo>
                    <a:pt x="33881" y="993209"/>
                  </a:lnTo>
                  <a:cubicBezTo>
                    <a:pt x="15137" y="993176"/>
                    <a:pt x="-33" y="977954"/>
                    <a:pt x="0" y="959209"/>
                  </a:cubicBezTo>
                  <a:lnTo>
                    <a:pt x="1615" y="33881"/>
                  </a:lnTo>
                  <a:cubicBezTo>
                    <a:pt x="1648" y="15136"/>
                    <a:pt x="16870" y="-33"/>
                    <a:pt x="35615" y="0"/>
                  </a:cubicBezTo>
                  <a:close/>
                </a:path>
              </a:pathLst>
            </a:custGeom>
            <a:blipFill>
              <a:blip r:embed="rId8"/>
              <a:stretch>
                <a:fillRect l="-222159" t="-57879" r="-211861" b="-569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774014" y="655439"/>
            <a:ext cx="5053976" cy="115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2"/>
              </a:lnSpc>
            </a:pPr>
            <a:r>
              <a:rPr lang="en-US" sz="4322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FROM</a:t>
            </a:r>
            <a:r>
              <a:rPr lang="en-US" b="true" sz="4322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 PIXELS TO LOGIC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63979" y="1913890"/>
            <a:ext cx="389339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2799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ETLIST GENERATION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74014" y="6501741"/>
            <a:ext cx="7080920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Parsing the JSON N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etlist to virtually rebuild the circuit geometry.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74014" y="5877524"/>
            <a:ext cx="327617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LOGI</a:t>
            </a:r>
            <a:r>
              <a:rPr lang="en-US" b="true" sz="2799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C EXECUTION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74014" y="3794760"/>
            <a:ext cx="11513986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Skeletonization: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Applying morphol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ogical thinning to compress thick, wobbly hand-drawn traces into precise 1-pixel-wide paths.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63979" y="4741545"/>
            <a:ext cx="10947321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Graph Pathfinding: 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reating gates as 'Nodes' and skeletonized wires as 'Edges' to map connections and export a structured JSON Netlist.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74014" y="7448526"/>
            <a:ext cx="11513986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Applying standard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Boolean logic to automatically calculate and output the final Truth Table.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11811" y="8109561"/>
            <a:ext cx="389339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CURR</a:t>
            </a:r>
            <a:r>
              <a:rPr lang="en-US" b="true" sz="2799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ENT STATUS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75070" y="8199048"/>
            <a:ext cx="10654093" cy="77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  <a:spcBef>
                <a:spcPct val="0"/>
              </a:spcBef>
            </a:pPr>
            <a:r>
              <a:rPr lang="en-US" sz="21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fully functional, end-to-end pipeline from physical paper to digital simulation.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8013" y="1476881"/>
            <a:ext cx="3306857" cy="5911007"/>
          </a:xfrm>
          <a:custGeom>
            <a:avLst/>
            <a:gdLst/>
            <a:ahLst/>
            <a:cxnLst/>
            <a:rect r="r" b="b" t="t" l="l"/>
            <a:pathLst>
              <a:path h="5911007" w="3306857">
                <a:moveTo>
                  <a:pt x="0" y="0"/>
                </a:moveTo>
                <a:lnTo>
                  <a:pt x="3306857" y="0"/>
                </a:lnTo>
                <a:lnTo>
                  <a:pt x="3306857" y="5911008"/>
                </a:lnTo>
                <a:lnTo>
                  <a:pt x="0" y="5911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80" t="-9281" r="-20488" b="-3208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79009" y="4581525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58836" y="-1155711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0" y="0"/>
                </a:moveTo>
                <a:lnTo>
                  <a:pt x="4381306" y="0"/>
                </a:lnTo>
                <a:lnTo>
                  <a:pt x="4381306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230200" y="9658350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4381307" y="1752523"/>
                </a:moveTo>
                <a:lnTo>
                  <a:pt x="0" y="1752523"/>
                </a:lnTo>
                <a:lnTo>
                  <a:pt x="0" y="0"/>
                </a:lnTo>
                <a:lnTo>
                  <a:pt x="4381307" y="0"/>
                </a:lnTo>
                <a:lnTo>
                  <a:pt x="4381307" y="175252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06436" y="-1003311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0" y="0"/>
                </a:moveTo>
                <a:lnTo>
                  <a:pt x="4381306" y="0"/>
                </a:lnTo>
                <a:lnTo>
                  <a:pt x="4381306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63544" y="1181100"/>
            <a:ext cx="1048156" cy="739084"/>
          </a:xfrm>
          <a:custGeom>
            <a:avLst/>
            <a:gdLst/>
            <a:ahLst/>
            <a:cxnLst/>
            <a:rect r="r" b="b" t="t" l="l"/>
            <a:pathLst>
              <a:path h="739084" w="1048156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86798" y="1468267"/>
            <a:ext cx="3288678" cy="5919621"/>
          </a:xfrm>
          <a:custGeom>
            <a:avLst/>
            <a:gdLst/>
            <a:ahLst/>
            <a:cxnLst/>
            <a:rect r="r" b="b" t="t" l="l"/>
            <a:pathLst>
              <a:path h="5919621" w="3288678">
                <a:moveTo>
                  <a:pt x="0" y="0"/>
                </a:moveTo>
                <a:lnTo>
                  <a:pt x="3288679" y="0"/>
                </a:lnTo>
                <a:lnTo>
                  <a:pt x="3288679" y="5919622"/>
                </a:lnTo>
                <a:lnTo>
                  <a:pt x="0" y="59196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5339" t="-14639" r="-30923" b="-5162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87405" y="1248339"/>
            <a:ext cx="8728517" cy="77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8"/>
              </a:lnSpc>
            </a:pPr>
            <a:r>
              <a:rPr lang="en-US" sz="5498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CH</a:t>
            </a:r>
            <a:r>
              <a:rPr lang="en-US" b="true" sz="5498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ALLENGES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87405" y="2178770"/>
            <a:ext cx="10145837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The S</a:t>
            </a: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egmentation vs. Integrity Paradox: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Weak morphological operations left interconnecting wires, creating "Giant Blobs." Stronger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operations cleanly severed wires but "decapitated" tiny NOT gates, destroying their geometric signature.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42163" y="4118060"/>
            <a:ext cx="9491079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olution: 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Developed a localized, surgical "Goldilocks scalpel" (13x13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elliptical opening) applied strictly within padded bounding boxes.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87405" y="5638250"/>
            <a:ext cx="10145837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Brittle Thresholding (Ov</a:t>
            </a: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erfitting):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Static limits (e.g., Solidity &gt; 0.85 or specific corner counts) failed when human variance produced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borderline geometry (e.g., a wobbly line registering as 8 corners).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2163" y="7577540"/>
            <a:ext cx="10145837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Pivot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ed to a multi-factored, deterministic decision tree where Extent acts as the u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ltimate "Triangle Tie-Breaker" rule.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7788" y="9718599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0" y="0"/>
                </a:moveTo>
                <a:lnTo>
                  <a:pt x="4381306" y="0"/>
                </a:lnTo>
                <a:lnTo>
                  <a:pt x="4381306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11144" y="1028700"/>
            <a:ext cx="1048156" cy="739084"/>
          </a:xfrm>
          <a:custGeom>
            <a:avLst/>
            <a:gdLst/>
            <a:ahLst/>
            <a:cxnLst/>
            <a:rect r="r" b="b" t="t" l="l"/>
            <a:pathLst>
              <a:path h="739084" w="1048156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673731" y="5347146"/>
            <a:ext cx="6122982" cy="6122982"/>
          </a:xfrm>
          <a:custGeom>
            <a:avLst/>
            <a:gdLst/>
            <a:ahLst/>
            <a:cxnLst/>
            <a:rect r="r" b="b" t="t" l="l"/>
            <a:pathLst>
              <a:path h="6122982" w="6122982">
                <a:moveTo>
                  <a:pt x="6122982" y="0"/>
                </a:moveTo>
                <a:lnTo>
                  <a:pt x="0" y="0"/>
                </a:lnTo>
                <a:lnTo>
                  <a:pt x="0" y="6122983"/>
                </a:lnTo>
                <a:lnTo>
                  <a:pt x="6122982" y="6122983"/>
                </a:lnTo>
                <a:lnTo>
                  <a:pt x="612298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198626" y="-979482"/>
            <a:ext cx="6122982" cy="6122982"/>
          </a:xfrm>
          <a:custGeom>
            <a:avLst/>
            <a:gdLst/>
            <a:ahLst/>
            <a:cxnLst/>
            <a:rect r="r" b="b" t="t" l="l"/>
            <a:pathLst>
              <a:path h="6122982" w="6122982">
                <a:moveTo>
                  <a:pt x="0" y="6122982"/>
                </a:moveTo>
                <a:lnTo>
                  <a:pt x="6122982" y="6122982"/>
                </a:lnTo>
                <a:lnTo>
                  <a:pt x="6122982" y="0"/>
                </a:lnTo>
                <a:lnTo>
                  <a:pt x="0" y="0"/>
                </a:lnTo>
                <a:lnTo>
                  <a:pt x="0" y="612298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020491" y="-1191830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4381306" y="1752523"/>
                </a:moveTo>
                <a:lnTo>
                  <a:pt x="0" y="1752523"/>
                </a:lnTo>
                <a:lnTo>
                  <a:pt x="0" y="0"/>
                </a:lnTo>
                <a:lnTo>
                  <a:pt x="4381306" y="0"/>
                </a:lnTo>
                <a:lnTo>
                  <a:pt x="4381306" y="17525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62554" y="9547916"/>
            <a:ext cx="1048156" cy="739084"/>
          </a:xfrm>
          <a:custGeom>
            <a:avLst/>
            <a:gdLst/>
            <a:ahLst/>
            <a:cxnLst/>
            <a:rect r="r" b="b" t="t" l="l"/>
            <a:pathLst>
              <a:path h="739084" w="1048156">
                <a:moveTo>
                  <a:pt x="0" y="0"/>
                </a:moveTo>
                <a:lnTo>
                  <a:pt x="1048156" y="0"/>
                </a:lnTo>
                <a:lnTo>
                  <a:pt x="1048156" y="739084"/>
                </a:lnTo>
                <a:lnTo>
                  <a:pt x="0" y="739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5400000">
            <a:off x="3846423" y="2062029"/>
            <a:ext cx="2510014" cy="4099689"/>
            <a:chOff x="0" y="0"/>
            <a:chExt cx="381000" cy="622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622300"/>
            </a:xfrm>
            <a:custGeom>
              <a:avLst/>
              <a:gdLst/>
              <a:ahLst/>
              <a:cxnLst/>
              <a:rect r="r" b="b" t="t" l="l"/>
              <a:pathLst>
                <a:path h="622300" w="381000">
                  <a:moveTo>
                    <a:pt x="381000" y="49530"/>
                  </a:moveTo>
                  <a:lnTo>
                    <a:pt x="381000" y="453390"/>
                  </a:lnTo>
                  <a:lnTo>
                    <a:pt x="19050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2860"/>
                    <a:pt x="381000" y="49530"/>
                  </a:cubicBezTo>
                  <a:close/>
                </a:path>
              </a:pathLst>
            </a:custGeom>
            <a:solidFill>
              <a:srgbClr val="06517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381000" cy="512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387828" y="-72982"/>
            <a:ext cx="9512344" cy="204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2"/>
              </a:lnSpc>
            </a:pPr>
            <a:r>
              <a:rPr lang="en-US" b="true" sz="5716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FUT</a:t>
            </a:r>
            <a:r>
              <a:rPr lang="en-US" b="true" sz="5716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URE SCOPE &amp; REMAINING 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23492" y="1986759"/>
            <a:ext cx="4027782" cy="612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4"/>
              </a:lnSpc>
            </a:pPr>
            <a:r>
              <a:rPr lang="en-US" b="true" sz="3446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NEXT PHASE 1: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5386" y="2040190"/>
            <a:ext cx="4027782" cy="612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4"/>
              </a:lnSpc>
            </a:pPr>
            <a:r>
              <a:rPr lang="en-US" b="true" sz="3446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NEXT</a:t>
            </a:r>
            <a:r>
              <a:rPr lang="en-US" b="true" sz="3446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 PHASE 2: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23492" y="3375957"/>
            <a:ext cx="3403634" cy="139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5"/>
              </a:lnSpc>
              <a:spcBef>
                <a:spcPct val="0"/>
              </a:spcBef>
            </a:pPr>
            <a:r>
              <a:rPr lang="en-US" sz="26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Expanding the Combinational Library</a:t>
            </a:r>
          </a:p>
        </p:txBody>
      </p:sp>
      <p:grpSp>
        <p:nvGrpSpPr>
          <p:cNvPr name="Group 15" id="15"/>
          <p:cNvGrpSpPr/>
          <p:nvPr/>
        </p:nvGrpSpPr>
        <p:grpSpPr>
          <a:xfrm rot="-5400000">
            <a:off x="10715639" y="2117152"/>
            <a:ext cx="2510014" cy="4099689"/>
            <a:chOff x="0" y="0"/>
            <a:chExt cx="381000" cy="6223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" cy="622300"/>
            </a:xfrm>
            <a:custGeom>
              <a:avLst/>
              <a:gdLst/>
              <a:ahLst/>
              <a:cxnLst/>
              <a:rect r="r" b="b" t="t" l="l"/>
              <a:pathLst>
                <a:path h="622300" w="381000">
                  <a:moveTo>
                    <a:pt x="381000" y="49530"/>
                  </a:moveTo>
                  <a:lnTo>
                    <a:pt x="381000" y="453390"/>
                  </a:lnTo>
                  <a:lnTo>
                    <a:pt x="190500" y="622300"/>
                  </a:lnTo>
                  <a:lnTo>
                    <a:pt x="0" y="45339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2860"/>
                    <a:pt x="381000" y="49530"/>
                  </a:cubicBezTo>
                  <a:close/>
                </a:path>
              </a:pathLst>
            </a:custGeom>
            <a:solidFill>
              <a:srgbClr val="06517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381000" cy="512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920802" y="3638720"/>
            <a:ext cx="3916809" cy="97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6"/>
              </a:lnSpc>
              <a:spcBef>
                <a:spcPct val="0"/>
              </a:spcBef>
            </a:pPr>
            <a:r>
              <a:rPr lang="en-US" sz="27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Seq</a:t>
            </a:r>
            <a:r>
              <a:rPr lang="en-US" sz="27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uential Logic Leap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1981" y="6186367"/>
            <a:ext cx="6326424" cy="13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762" indent="-280881" lvl="1">
              <a:lnSpc>
                <a:spcPts val="3642"/>
              </a:lnSpc>
              <a:buFont typeface="Arial"/>
              <a:buChar char="•"/>
            </a:pPr>
            <a:r>
              <a:rPr lang="en-US" sz="26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Extending the ge</a:t>
            </a:r>
            <a:r>
              <a:rPr lang="en-US" sz="26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ometric classifier to identify complex derived gates: NAND, NOR, XOR, and XNOR.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1981" y="7749053"/>
            <a:ext cx="5929396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uning the pipeline to handle extremely dense, tightly packed circuit diagrams.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6186367"/>
            <a:ext cx="645366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Moving bey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ond feed-forward combinational logic to detect circuits with state and memory.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7875644"/>
            <a:ext cx="645366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Identifyi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ng feedback loops and sequential elements like Latches and Flip-Flops (D, T, SR, JK).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8836" y="-1155711"/>
            <a:ext cx="4381306" cy="1752523"/>
          </a:xfrm>
          <a:custGeom>
            <a:avLst/>
            <a:gdLst/>
            <a:ahLst/>
            <a:cxnLst/>
            <a:rect r="r" b="b" t="t" l="l"/>
            <a:pathLst>
              <a:path h="1752523" w="4381306">
                <a:moveTo>
                  <a:pt x="0" y="0"/>
                </a:moveTo>
                <a:lnTo>
                  <a:pt x="4381306" y="0"/>
                </a:lnTo>
                <a:lnTo>
                  <a:pt x="4381306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165018" y="4147387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7200900" y="0"/>
                </a:moveTo>
                <a:lnTo>
                  <a:pt x="0" y="0"/>
                </a:lnTo>
                <a:lnTo>
                  <a:pt x="0" y="7200900"/>
                </a:lnTo>
                <a:lnTo>
                  <a:pt x="7200900" y="7200900"/>
                </a:lnTo>
                <a:lnTo>
                  <a:pt x="72009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42487" y="3712237"/>
            <a:ext cx="11003025" cy="179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4"/>
              </a:lnSpc>
            </a:pPr>
            <a:r>
              <a:rPr lang="en-US" sz="11822" b="true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DAHExt0k7DM</dc:identifier>
  <dcterms:modified xsi:type="dcterms:W3CDTF">2011-08-01T06:04:30Z</dcterms:modified>
  <cp:revision>1</cp:revision>
  <dc:title>Blue and White Modern Pitch Deck Presentation</dc:title>
</cp:coreProperties>
</file>